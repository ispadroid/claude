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96000" y="198000"/>
            <a:ext cx="6768000" cy="720000"/>
          </a:xfrm>
          <a:prstGeom prst="rect">
            <a:avLst/>
          </a:prstGeom>
          <a:solidFill>
            <a:srgbClr val="0000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999" y="277200"/>
            <a:ext cx="6588000" cy="295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AXA</a:t>
            </a:r>
            <a:r>
              <a:rPr sz="1400" b="0" i="0">
                <a:solidFill>
                  <a:srgbClr val="FFFFFF"/>
                </a:solidFill>
                <a:latin typeface="Arial"/>
              </a:rPr>
              <a:t>  |  </a:t>
            </a:r>
            <a:r>
              <a:rPr sz="1400" b="1" i="0">
                <a:solidFill>
                  <a:srgbClr val="FFFFFF"/>
                </a:solidFill>
                <a:latin typeface="Arial"/>
              </a:rPr>
              <a:t>UPN-Wechsel — Kurzanleitung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999" y="637200"/>
            <a:ext cx="6588000" cy="23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Was nach der Änderung deiner geschäftlichen E-Mail-Adresse zu tun 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6000" y="918000"/>
            <a:ext cx="6768000" cy="32400"/>
          </a:xfrm>
          <a:prstGeom prst="rect">
            <a:avLst/>
          </a:prstGeom>
          <a:solidFill>
            <a:srgbClr val="FF17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96000" y="993600"/>
            <a:ext cx="6768000" cy="34200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8000" y="1015200"/>
            <a:ext cx="6624000" cy="306000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just">
              <a:lnSpc>
                <a:spcPct val="100000"/>
              </a:lnSpc>
            </a:pPr>
            <a:r>
              <a:rPr sz="850" b="0" i="0">
                <a:solidFill>
                  <a:srgbClr val="343C3D"/>
                </a:solidFill>
                <a:latin typeface="Arial"/>
              </a:rPr>
              <a:t>Dein User Principal Name (UPN) — deine geschäftliche E-Mail-Adresse — wurde geändert. Einige Microsoft-365-Apps müssen manuell neu verknüpft werden. Folge den Schritten — es dauert nur wenige Minuten.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396000" y="1378800"/>
            <a:ext cx="6768000" cy="208800"/>
          </a:xfrm>
          <a:prstGeom prst="rect">
            <a:avLst/>
          </a:prstGeom>
          <a:solidFill>
            <a:srgbClr val="0000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4000" y="1407600"/>
            <a:ext cx="6624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1 — Microsoft OneNote — Notizbücher neu verknüpfen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" y="1587600"/>
            <a:ext cx="6768000" cy="4692600"/>
          </a:xfrm>
          <a:prstGeom prst="rect">
            <a:avLst/>
          </a:prstGeom>
          <a:solidFill>
            <a:srgbClr val="EEEEF8"/>
          </a:solidFill>
          <a:ln w="7620">
            <a:solidFill>
              <a:srgbClr val="BBB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000" y="1666800"/>
            <a:ext cx="259200" cy="896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1721"/>
                </a:solidFill>
                <a:latin typeface="Arial"/>
              </a:rPr>
              <a:t>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2400" y="1652400"/>
            <a:ext cx="3650400" cy="896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FF1721"/>
                </a:solidFill>
                <a:latin typeface="Arial"/>
              </a:rPr>
              <a:t>Vor dem Schließen: Sync-Fehler prüfen</a:t>
            </a:r>
          </a:p>
          <a:p>
            <a:pPr algn="l">
              <a:lnSpc>
                <a:spcPct val="100000"/>
              </a:lnSpc>
            </a:pPr>
            <a:r>
              <a:rPr sz="780" b="0" i="0">
                <a:solidFill>
                  <a:srgbClr val="FF1721"/>
                </a:solidFill>
                <a:latin typeface="Arial"/>
              </a:rPr>
              <a:t>Sicherstellen, dass keine Sync-Fehler vorhanden sind. Falls ja: betroffene Notizbücher zuerst manuell aus dem lokalen Ordner sichern.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0000" y="2561760"/>
            <a:ext cx="3934801" cy="4320"/>
          </a:xfrm>
          <a:prstGeom prst="rect">
            <a:avLst/>
          </a:prstGeom>
          <a:solidFill>
            <a:srgbClr val="BBB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000" y="2585160"/>
            <a:ext cx="259200" cy="896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0008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400" y="2570760"/>
            <a:ext cx="3650400" cy="896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343C3D"/>
                </a:solidFill>
                <a:latin typeface="Arial"/>
              </a:rPr>
              <a:t>Alle Notizbücher schließen</a:t>
            </a:r>
          </a:p>
          <a:p>
            <a:pPr algn="l">
              <a:lnSpc>
                <a:spcPct val="100000"/>
              </a:lnSpc>
            </a:pPr>
            <a:r>
              <a:rPr sz="780" b="0" i="0">
                <a:solidFill>
                  <a:srgbClr val="343C3D"/>
                </a:solidFill>
                <a:latin typeface="Arial"/>
              </a:rPr>
              <a:t>Rechtsklick auf jedes Notizbuch im linken Bereich → Notizbuch schließen (Close This Notebook). Für alle wiederholen, dann App beenden.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0000" y="3480120"/>
            <a:ext cx="3934801" cy="4320"/>
          </a:xfrm>
          <a:prstGeom prst="rect">
            <a:avLst/>
          </a:prstGeom>
          <a:solidFill>
            <a:srgbClr val="BBB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000" y="3503520"/>
            <a:ext cx="259200" cy="896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0008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2400" y="3489120"/>
            <a:ext cx="3650400" cy="896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343C3D"/>
                </a:solidFill>
                <a:latin typeface="Arial"/>
              </a:rPr>
              <a:t>Bei OneDrive Web mit neuer Adresse anmelden</a:t>
            </a:r>
          </a:p>
          <a:p>
            <a:pPr algn="l">
              <a:lnSpc>
                <a:spcPct val="100000"/>
              </a:lnSpc>
            </a:pPr>
            <a:r>
              <a:rPr sz="780" b="0" i="0">
                <a:solidFill>
                  <a:srgbClr val="343C3D"/>
                </a:solidFill>
                <a:latin typeface="Arial"/>
              </a:rPr>
              <a:t>Browser öffnen → onedrive.com → mit der neuen geschäftlichen E-Mail-Adresse (neuem UPN) anmelden.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0000" y="4398480"/>
            <a:ext cx="3934801" cy="4320"/>
          </a:xfrm>
          <a:prstGeom prst="rect">
            <a:avLst/>
          </a:prstGeom>
          <a:solidFill>
            <a:srgbClr val="BBB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000" y="4421880"/>
            <a:ext cx="259200" cy="896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0008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" y="4407480"/>
            <a:ext cx="3650400" cy="896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343C3D"/>
                </a:solidFill>
                <a:latin typeface="Arial"/>
              </a:rPr>
              <a:t>Notizbuch direkt aus OneDrive Web öffnen</a:t>
            </a:r>
          </a:p>
          <a:p>
            <a:pPr algn="l">
              <a:lnSpc>
                <a:spcPct val="100000"/>
              </a:lnSpc>
            </a:pPr>
            <a:r>
              <a:rPr sz="780" b="0" i="0">
                <a:solidFill>
                  <a:srgbClr val="343C3D"/>
                </a:solidFill>
                <a:latin typeface="Arial"/>
              </a:rPr>
              <a:t>Zum Ordner des Notizbuchs navigieren und darauf klicken: öffnet sich in OneNote für das Web. (Erzwingt die Neuverknüpfung mit dem neuen UPN.)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0000" y="5316840"/>
            <a:ext cx="3934801" cy="4320"/>
          </a:xfrm>
          <a:prstGeom prst="rect">
            <a:avLst/>
          </a:prstGeom>
          <a:solidFill>
            <a:srgbClr val="BBB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0000" y="5340240"/>
            <a:ext cx="259200" cy="896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0008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400" y="5325840"/>
            <a:ext cx="3650400" cy="896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343C3D"/>
                </a:solidFill>
                <a:latin typeface="Arial"/>
              </a:rPr>
              <a:t>In der Desktop-App weiterarbeiten</a:t>
            </a:r>
          </a:p>
          <a:p>
            <a:pPr algn="l">
              <a:lnSpc>
                <a:spcPct val="100000"/>
              </a:lnSpc>
            </a:pPr>
            <a:r>
              <a:rPr sz="780" b="0" i="0">
                <a:solidFill>
                  <a:srgbClr val="343C3D"/>
                </a:solidFill>
                <a:latin typeface="Arial"/>
              </a:rPr>
              <a:t>In OneNote für das Web oben rechts auf «In OneNote öffnen» klicken. Das Notizbuch ist nun korrekt mit dem neuen Konto verknüpft.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55799" y="1616400"/>
            <a:ext cx="2581201" cy="2624839"/>
          </a:xfrm>
          <a:prstGeom prst="rect">
            <a:avLst/>
          </a:prstGeom>
          <a:solidFill>
            <a:srgbClr val="FFFFFF"/>
          </a:solidFill>
          <a:ln w="6350">
            <a:solidFill>
              <a:srgbClr val="BBB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bf765434-IMG_4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1799" y="1652400"/>
            <a:ext cx="2509201" cy="255283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528800" y="4262839"/>
            <a:ext cx="26352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1">
                <a:solidFill>
                  <a:srgbClr val="8C9BA5"/>
                </a:solidFill>
                <a:latin typeface="Arial"/>
              </a:rPr>
              <a:t>Rechtsklick → Notizbuch schließen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6000" y="6323400"/>
            <a:ext cx="6768000" cy="208800"/>
          </a:xfrm>
          <a:prstGeom prst="rect">
            <a:avLst/>
          </a:prstGeom>
          <a:solidFill>
            <a:srgbClr val="0000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000" y="6352200"/>
            <a:ext cx="6624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2 — OneDrive — Freigaben neu erstellen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6000" y="6532200"/>
            <a:ext cx="6768000" cy="3796200"/>
          </a:xfrm>
          <a:prstGeom prst="rect">
            <a:avLst/>
          </a:prstGeom>
          <a:solidFill>
            <a:srgbClr val="EEEEF8"/>
          </a:solidFill>
          <a:ln w="7620">
            <a:solidFill>
              <a:srgbClr val="BBB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0000" y="6575400"/>
            <a:ext cx="6660000" cy="34200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0000" y="6575400"/>
            <a:ext cx="64800" cy="342000"/>
          </a:xfrm>
          <a:prstGeom prst="rect">
            <a:avLst/>
          </a:prstGeom>
          <a:solidFill>
            <a:srgbClr val="FF17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0800" y="6604200"/>
            <a:ext cx="6534001" cy="291600"/>
          </a:xfrm>
          <a:prstGeom prst="rect">
            <a:avLst/>
          </a:prstGeom>
          <a:noFill/>
        </p:spPr>
        <p:txBody>
          <a:bodyPr wrap="square" lIns="18000" rIns="1800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 i="0">
                <a:solidFill>
                  <a:srgbClr val="FF1721"/>
                </a:solidFill>
                <a:latin typeface="Arial"/>
              </a:rPr>
              <a:t>⚠  </a:t>
            </a:r>
            <a:r>
              <a:rPr sz="850" b="0" i="0">
                <a:solidFill>
                  <a:srgbClr val="8F0000"/>
                </a:solidFill>
                <a:latin typeface="Arial"/>
              </a:rPr>
              <a:t>Alle Freigaben mit dem alten UPN werden </a:t>
            </a:r>
            <a:r>
              <a:rPr sz="850" b="1" i="0">
                <a:solidFill>
                  <a:srgbClr val="8F0000"/>
                </a:solidFill>
                <a:latin typeface="Arial"/>
              </a:rPr>
              <a:t>automatisch ungültig.</a:t>
            </a:r>
            <a:r>
              <a:rPr sz="850" b="0" i="0">
                <a:solidFill>
                  <a:srgbClr val="8F0000"/>
                </a:solidFill>
                <a:latin typeface="Arial"/>
              </a:rPr>
              <a:t> Empfänger verlieren den Zugriff — jedes Element muss manuell neu geteilt werden.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0000" y="6982200"/>
            <a:ext cx="259200" cy="109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0008F"/>
                </a:solidFill>
                <a:latin typeface="Arial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2400" y="6967800"/>
            <a:ext cx="6357600" cy="1092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343C3D"/>
                </a:solidFill>
                <a:latin typeface="Arial"/>
              </a:rPr>
              <a:t>Freigegebene Elemente finden</a:t>
            </a:r>
          </a:p>
          <a:p>
            <a:pPr algn="l">
              <a:lnSpc>
                <a:spcPct val="100000"/>
              </a:lnSpc>
            </a:pPr>
            <a:r>
              <a:rPr sz="780" b="0" i="0">
                <a:solidFill>
                  <a:srgbClr val="343C3D"/>
                </a:solidFill>
                <a:latin typeface="Arial"/>
              </a:rPr>
              <a:t>Bei onedrive.com mit neuer Adresse anmelden → im linken Bereich auf «Geteilt» klicken → alle früheren Freigaben werden angezeigt.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0000" y="8069400"/>
            <a:ext cx="6642001" cy="4320"/>
          </a:xfrm>
          <a:prstGeom prst="rect">
            <a:avLst/>
          </a:prstGeom>
          <a:solidFill>
            <a:srgbClr val="BBB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000" y="8092800"/>
            <a:ext cx="259200" cy="109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0008F"/>
                </a:solidFill>
                <a:latin typeface="Arial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400" y="8078400"/>
            <a:ext cx="6357600" cy="1092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343C3D"/>
                </a:solidFill>
                <a:latin typeface="Arial"/>
              </a:rPr>
              <a:t>Jede Datei / jeden Ordner neu freigeben</a:t>
            </a:r>
          </a:p>
          <a:p>
            <a:pPr algn="l">
              <a:lnSpc>
                <a:spcPct val="100000"/>
              </a:lnSpc>
            </a:pPr>
            <a:r>
              <a:rPr sz="780" b="0" i="0">
                <a:solidFill>
                  <a:srgbClr val="343C3D"/>
                </a:solidFill>
                <a:latin typeface="Arial"/>
              </a:rPr>
              <a:t>Rechtsklick → Freigeben → Empfänger eingeben → Berechtigung wählen (Anzeigen / Bearbeiten) → Senden.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0000" y="9180000"/>
            <a:ext cx="6642001" cy="4320"/>
          </a:xfrm>
          <a:prstGeom prst="rect">
            <a:avLst/>
          </a:prstGeom>
          <a:solidFill>
            <a:srgbClr val="BBB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0000" y="9203400"/>
            <a:ext cx="259200" cy="109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0008F"/>
                </a:solidFill>
                <a:latin typeface="Arial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400" y="9189000"/>
            <a:ext cx="6357600" cy="1092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343C3D"/>
                </a:solidFill>
                <a:latin typeface="Arial"/>
              </a:rPr>
              <a:t>Empfänger über neuen Link informieren</a:t>
            </a:r>
          </a:p>
          <a:p>
            <a:pPr algn="l">
              <a:lnSpc>
                <a:spcPct val="100000"/>
              </a:lnSpc>
            </a:pPr>
            <a:r>
              <a:rPr sz="780" b="0" i="0">
                <a:solidFill>
                  <a:srgbClr val="343C3D"/>
                </a:solidFill>
                <a:latin typeface="Arial"/>
              </a:rPr>
              <a:t>Alte Links funktionieren nicht mehr. Neue Einladung versenden oder Link direkt mitteilen. Für SharePoint-Bibliotheken das IT-Team kontaktieren.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6000" y="10371600"/>
            <a:ext cx="6768000" cy="9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6000" y="10393200"/>
            <a:ext cx="6768000" cy="21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8C9BA5"/>
                </a:solidFill>
                <a:latin typeface="Arial"/>
              </a:rPr>
              <a:t>Bei Fragen wende dich an das IT-Team  ·  Internes Dokument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