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6000" y="198000"/>
            <a:ext cx="6768000" cy="720000"/>
          </a:xfrm>
          <a:prstGeom prst="rect">
            <a:avLst/>
          </a:prstGeom>
          <a:solidFill>
            <a:srgbClr val="000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198000"/>
            <a:ext cx="6660000" cy="7200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AXA</a:t>
            </a:r>
            <a:r>
              <a:rPr sz="1400" b="0" i="0">
                <a:solidFill>
                  <a:srgbClr val="FFFFFF"/>
                </a:solidFill>
                <a:latin typeface="Arial"/>
              </a:rPr>
              <a:t>  |  </a:t>
            </a:r>
            <a:r>
              <a:rPr sz="1400" b="1" i="0">
                <a:solidFill>
                  <a:srgbClr val="FFFFFF"/>
                </a:solidFill>
                <a:latin typeface="Arial"/>
              </a:rPr>
              <a:t>UPN-Wechsel — Kurzanleitung</a:t>
            </a:r>
          </a:p>
          <a:p>
            <a:pPr algn="l">
              <a:spcBef>
                <a:spcPts val="300"/>
              </a:spcBef>
            </a:pPr>
            <a:r>
              <a:rPr sz="850" b="0" i="0">
                <a:solidFill>
                  <a:srgbClr val="FFFFFF"/>
                </a:solidFill>
                <a:latin typeface="Arial"/>
              </a:rPr>
              <a:t>Was nach der Änderung deiner geschäftlichen E-Mail-Adresse zu tun 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96000" y="918000"/>
            <a:ext cx="6768000" cy="32400"/>
          </a:xfrm>
          <a:prstGeom prst="rect">
            <a:avLst/>
          </a:prstGeom>
          <a:solidFill>
            <a:srgbClr val="FF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6000" y="993600"/>
            <a:ext cx="6768000" cy="3420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1011600"/>
            <a:ext cx="6624000" cy="306000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just"/>
            <a:r>
              <a:rPr sz="850" b="0" i="0">
                <a:solidFill>
                  <a:srgbClr val="343C3D"/>
                </a:solidFill>
                <a:latin typeface="Arial"/>
              </a:rPr>
              <a:t>Dein User Principal Name (UPN) — deine geschäftliche E-Mail-Adresse — wurde geändert. Einige Microsoft-365-Apps müssen manuell neu verknüpft werden. Folge den Schritten — es dauert nur wenige Minuten.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1378800"/>
            <a:ext cx="6768000" cy="208800"/>
          </a:xfrm>
          <a:prstGeom prst="rect">
            <a:avLst/>
          </a:prstGeom>
          <a:solidFill>
            <a:srgbClr val="000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4000" y="1378800"/>
            <a:ext cx="6660000" cy="2088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1 — Microsoft OneNote — Notizbücher neu verknüpfen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" y="1587600"/>
            <a:ext cx="6768000" cy="4716360"/>
          </a:xfrm>
          <a:prstGeom prst="rect">
            <a:avLst/>
          </a:prstGeom>
          <a:solidFill>
            <a:srgbClr val="EEEEF8"/>
          </a:solidFill>
          <a:ln w="7620">
            <a:solidFill>
              <a:srgbClr val="BB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1652400"/>
            <a:ext cx="270000" cy="901512"/>
          </a:xfrm>
          <a:prstGeom prst="rect">
            <a:avLst/>
          </a:prstGeom>
          <a:noFill/>
        </p:spPr>
        <p:txBody>
          <a:bodyPr wrap="none" lIns="45720" rIns="45720" tIns="36576" bIns="36576">
            <a:spAutoFit/>
          </a:bodyPr>
          <a:lstStyle/>
          <a:p>
            <a:pPr algn="ctr"/>
            <a:r>
              <a:rPr sz="1200" b="1" i="0">
                <a:solidFill>
                  <a:srgbClr val="FF1721"/>
                </a:solidFill>
                <a:latin typeface="Arial"/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000" y="1652400"/>
            <a:ext cx="3628800" cy="90151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850" b="1" i="0">
                <a:solidFill>
                  <a:srgbClr val="FF1721"/>
                </a:solidFill>
                <a:latin typeface="Arial"/>
              </a:rPr>
              <a:t>Vor dem Schließen: Sync-Fehler prüfen</a:t>
            </a:r>
          </a:p>
          <a:p>
            <a:pPr>
              <a:spcBef>
                <a:spcPts val="100"/>
              </a:spcBef>
            </a:pPr>
            <a:r>
              <a:rPr sz="780" b="0" i="0">
                <a:solidFill>
                  <a:srgbClr val="FF1721"/>
                </a:solidFill>
                <a:latin typeface="Arial"/>
              </a:rPr>
              <a:t>Sicherstellen, dass keine Sync-Fehler vorhanden sind. Falls ja: betroffene Notizbücher zuerst manuell aus dem lokalen Ordner sichern.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2575512"/>
            <a:ext cx="270000" cy="901512"/>
          </a:xfrm>
          <a:prstGeom prst="rect">
            <a:avLst/>
          </a:prstGeom>
          <a:noFill/>
        </p:spPr>
        <p:txBody>
          <a:bodyPr wrap="none" lIns="45720" rIns="45720" tIns="36576" bIns="36576">
            <a:spAutoFit/>
          </a:bodyPr>
          <a:lstStyle/>
          <a:p>
            <a:pPr algn="ctr"/>
            <a:r>
              <a:rPr sz="1200" b="1" i="0">
                <a:solidFill>
                  <a:srgbClr val="00008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000" y="2575512"/>
            <a:ext cx="3628800" cy="90151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850" b="1" i="0">
                <a:solidFill>
                  <a:srgbClr val="343C3D"/>
                </a:solidFill>
                <a:latin typeface="Arial"/>
              </a:rPr>
              <a:t>Alle Notizbücher schließen</a:t>
            </a:r>
          </a:p>
          <a:p>
            <a:pPr>
              <a:spcBef>
                <a:spcPts val="100"/>
              </a:spcBef>
            </a:pPr>
            <a:r>
              <a:rPr sz="780" b="0" i="0">
                <a:solidFill>
                  <a:srgbClr val="343C3D"/>
                </a:solidFill>
                <a:latin typeface="Arial"/>
              </a:rPr>
              <a:t>Rechtsklick auf jedes Notizbuch im linken Bereich → Notizbuch schließen (Close This Notebook). Für alle wiederholen, dann App beenden.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3498624"/>
            <a:ext cx="270000" cy="901512"/>
          </a:xfrm>
          <a:prstGeom prst="rect">
            <a:avLst/>
          </a:prstGeom>
          <a:noFill/>
        </p:spPr>
        <p:txBody>
          <a:bodyPr wrap="none" lIns="45720" rIns="45720" tIns="36576" bIns="36576">
            <a:spAutoFit/>
          </a:bodyPr>
          <a:lstStyle/>
          <a:p>
            <a:pPr algn="ctr"/>
            <a:r>
              <a:rPr sz="1200" b="1" i="0">
                <a:solidFill>
                  <a:srgbClr val="00008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00" y="3498624"/>
            <a:ext cx="3628800" cy="90151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850" b="1" i="0">
                <a:solidFill>
                  <a:srgbClr val="343C3D"/>
                </a:solidFill>
                <a:latin typeface="Arial"/>
              </a:rPr>
              <a:t>Bei OneDrive Web mit neuer Adresse anmelden</a:t>
            </a:r>
          </a:p>
          <a:p>
            <a:pPr>
              <a:spcBef>
                <a:spcPts val="100"/>
              </a:spcBef>
            </a:pPr>
            <a:r>
              <a:rPr sz="780" b="0" i="0">
                <a:solidFill>
                  <a:srgbClr val="343C3D"/>
                </a:solidFill>
                <a:latin typeface="Arial"/>
              </a:rPr>
              <a:t>Browser öffnen → onedrive.com → mit der neuen geschäftlichen E-Mail-Adresse (neuem UPN) anmelden.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" y="4421736"/>
            <a:ext cx="270000" cy="901512"/>
          </a:xfrm>
          <a:prstGeom prst="rect">
            <a:avLst/>
          </a:prstGeom>
          <a:noFill/>
        </p:spPr>
        <p:txBody>
          <a:bodyPr wrap="none" lIns="45720" rIns="45720" tIns="36576" bIns="36576">
            <a:spAutoFit/>
          </a:bodyPr>
          <a:lstStyle/>
          <a:p>
            <a:pPr algn="ctr"/>
            <a:r>
              <a:rPr sz="1200" b="1" i="0">
                <a:solidFill>
                  <a:srgbClr val="00008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000" y="4421736"/>
            <a:ext cx="3628800" cy="90151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850" b="1" i="0">
                <a:solidFill>
                  <a:srgbClr val="343C3D"/>
                </a:solidFill>
                <a:latin typeface="Arial"/>
              </a:rPr>
              <a:t>Notizbuch direkt aus OneDrive Web öffnen</a:t>
            </a:r>
          </a:p>
          <a:p>
            <a:pPr>
              <a:spcBef>
                <a:spcPts val="100"/>
              </a:spcBef>
            </a:pPr>
            <a:r>
              <a:rPr sz="780" b="0" i="0">
                <a:solidFill>
                  <a:srgbClr val="343C3D"/>
                </a:solidFill>
                <a:latin typeface="Arial"/>
              </a:rPr>
              <a:t>Zum Ordner des Notizbuchs navigieren und darauf klicken: öffnet sich in OneNote für das Web. (Erzwingt die Neuverknüpfung mit dem neuen UPN.)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000" y="5344848"/>
            <a:ext cx="270000" cy="901512"/>
          </a:xfrm>
          <a:prstGeom prst="rect">
            <a:avLst/>
          </a:prstGeom>
          <a:noFill/>
        </p:spPr>
        <p:txBody>
          <a:bodyPr wrap="none" lIns="45720" rIns="45720" tIns="36576" bIns="36576">
            <a:spAutoFit/>
          </a:bodyPr>
          <a:lstStyle/>
          <a:p>
            <a:pPr algn="ctr"/>
            <a:r>
              <a:rPr sz="1200" b="1" i="0">
                <a:solidFill>
                  <a:srgbClr val="00008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000" y="5344848"/>
            <a:ext cx="3628800" cy="90151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850" b="1" i="0">
                <a:solidFill>
                  <a:srgbClr val="343C3D"/>
                </a:solidFill>
                <a:latin typeface="Arial"/>
              </a:rPr>
              <a:t>In der Desktop-App weiterarbeiten</a:t>
            </a:r>
          </a:p>
          <a:p>
            <a:pPr>
              <a:spcBef>
                <a:spcPts val="100"/>
              </a:spcBef>
            </a:pPr>
            <a:r>
              <a:rPr sz="780" b="0" i="0">
                <a:solidFill>
                  <a:srgbClr val="343C3D"/>
                </a:solidFill>
                <a:latin typeface="Arial"/>
              </a:rPr>
              <a:t>In OneNote für das Web oben rechts auf «In OneNote öffnen» klicken. Das Notizbuch ist nun korrekt mit dem neuen Konto verknüpft.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36800" y="1605600"/>
            <a:ext cx="2545200" cy="2588212"/>
          </a:xfrm>
          <a:prstGeom prst="rect">
            <a:avLst/>
          </a:prstGeom>
          <a:solidFill>
            <a:srgbClr val="FFFFFF"/>
          </a:solidFill>
          <a:ln w="6350">
            <a:solidFill>
              <a:srgbClr val="BB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f765434-IMG_4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800" y="1641600"/>
            <a:ext cx="2473200" cy="25162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600800" y="4186612"/>
            <a:ext cx="2617200" cy="1440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ctr"/>
            <a:r>
              <a:rPr sz="750" b="0" i="1">
                <a:solidFill>
                  <a:srgbClr val="8C9BA5"/>
                </a:solidFill>
                <a:latin typeface="Arial"/>
              </a:rPr>
              <a:t>Rechtsklick → Notizbuch schließen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6000" y="6347160"/>
            <a:ext cx="6768000" cy="208800"/>
          </a:xfrm>
          <a:prstGeom prst="rect">
            <a:avLst/>
          </a:prstGeom>
          <a:solidFill>
            <a:srgbClr val="000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000" y="6347160"/>
            <a:ext cx="6660000" cy="2088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2 — OneDrive — Freigaben neu erstellen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6000" y="6555960"/>
            <a:ext cx="6768000" cy="3815640"/>
          </a:xfrm>
          <a:prstGeom prst="rect">
            <a:avLst/>
          </a:prstGeom>
          <a:solidFill>
            <a:srgbClr val="EEEEF8"/>
          </a:solidFill>
          <a:ln w="7620">
            <a:solidFill>
              <a:srgbClr val="BB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0000" y="6599160"/>
            <a:ext cx="6660000" cy="3420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0000" y="6599160"/>
            <a:ext cx="64800" cy="342000"/>
          </a:xfrm>
          <a:prstGeom prst="rect">
            <a:avLst/>
          </a:prstGeom>
          <a:solidFill>
            <a:srgbClr val="FF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000" y="6620760"/>
            <a:ext cx="6534000" cy="298800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l"/>
            <a:r>
              <a:rPr sz="850" b="1" i="0">
                <a:solidFill>
                  <a:srgbClr val="FF1721"/>
                </a:solidFill>
                <a:latin typeface="Arial"/>
              </a:rPr>
              <a:t>⚠  </a:t>
            </a:r>
            <a:r>
              <a:rPr sz="850" b="0" i="0">
                <a:solidFill>
                  <a:srgbClr val="8F0000"/>
                </a:solidFill>
                <a:latin typeface="Arial"/>
              </a:rPr>
              <a:t>Alle Freigaben mit dem alten UPN werden </a:t>
            </a:r>
            <a:r>
              <a:rPr sz="850" b="1" i="0">
                <a:solidFill>
                  <a:srgbClr val="8F0000"/>
                </a:solidFill>
                <a:latin typeface="Arial"/>
              </a:rPr>
              <a:t>automatisch ungültig.</a:t>
            </a:r>
            <a:r>
              <a:rPr sz="850" b="0" i="0">
                <a:solidFill>
                  <a:srgbClr val="8F0000"/>
                </a:solidFill>
                <a:latin typeface="Arial"/>
              </a:rPr>
              <a:t> Empfänger verlieren den Zugriff — jedes Element muss manuell neu geteilt werden.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000" y="6984360"/>
            <a:ext cx="270000" cy="1096680"/>
          </a:xfrm>
          <a:prstGeom prst="rect">
            <a:avLst/>
          </a:prstGeom>
          <a:noFill/>
        </p:spPr>
        <p:txBody>
          <a:bodyPr wrap="none" lIns="45720" rIns="45720" tIns="36576" bIns="36576">
            <a:spAutoFit/>
          </a:bodyPr>
          <a:lstStyle/>
          <a:p>
            <a:pPr algn="ctr"/>
            <a:r>
              <a:rPr sz="1200" b="1" i="0">
                <a:solidFill>
                  <a:srgbClr val="00008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000" y="6984360"/>
            <a:ext cx="6336000" cy="10966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850" b="1" i="0">
                <a:solidFill>
                  <a:srgbClr val="343C3D"/>
                </a:solidFill>
                <a:latin typeface="Arial"/>
              </a:rPr>
              <a:t>Freigegebene Elemente finden</a:t>
            </a:r>
          </a:p>
          <a:p>
            <a:pPr>
              <a:spcBef>
                <a:spcPts val="100"/>
              </a:spcBef>
            </a:pPr>
            <a:r>
              <a:rPr sz="780" b="0" i="0">
                <a:solidFill>
                  <a:srgbClr val="343C3D"/>
                </a:solidFill>
                <a:latin typeface="Arial"/>
              </a:rPr>
              <a:t>Bei onedrive.com mit neuer Adresse anmelden → im linken Bereich auf «Geteilt» klicken → alle früheren Freigaben werden angezeigt.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000" y="8099040"/>
            <a:ext cx="270000" cy="1096680"/>
          </a:xfrm>
          <a:prstGeom prst="rect">
            <a:avLst/>
          </a:prstGeom>
          <a:noFill/>
        </p:spPr>
        <p:txBody>
          <a:bodyPr wrap="none" lIns="45720" rIns="45720" tIns="36576" bIns="36576">
            <a:spAutoFit/>
          </a:bodyPr>
          <a:lstStyle/>
          <a:p>
            <a:pPr algn="ctr"/>
            <a:r>
              <a:rPr sz="1200" b="1" i="0">
                <a:solidFill>
                  <a:srgbClr val="00008F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000" y="8099040"/>
            <a:ext cx="6336000" cy="10966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850" b="1" i="0">
                <a:solidFill>
                  <a:srgbClr val="343C3D"/>
                </a:solidFill>
                <a:latin typeface="Arial"/>
              </a:rPr>
              <a:t>Jede Datei / jeden Ordner neu freigeben</a:t>
            </a:r>
          </a:p>
          <a:p>
            <a:pPr>
              <a:spcBef>
                <a:spcPts val="100"/>
              </a:spcBef>
            </a:pPr>
            <a:r>
              <a:rPr sz="780" b="0" i="0">
                <a:solidFill>
                  <a:srgbClr val="343C3D"/>
                </a:solidFill>
                <a:latin typeface="Arial"/>
              </a:rPr>
              <a:t>Rechtsklick → Freigeben → Empfänger eingeben → Berechtigung wählen (Anzeigen / Bearbeiten) → Senden.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000" y="9213720"/>
            <a:ext cx="270000" cy="1096680"/>
          </a:xfrm>
          <a:prstGeom prst="rect">
            <a:avLst/>
          </a:prstGeom>
          <a:noFill/>
        </p:spPr>
        <p:txBody>
          <a:bodyPr wrap="none" lIns="45720" rIns="45720" tIns="36576" bIns="36576">
            <a:spAutoFit/>
          </a:bodyPr>
          <a:lstStyle/>
          <a:p>
            <a:pPr algn="ctr"/>
            <a:r>
              <a:rPr sz="1200" b="1" i="0">
                <a:solidFill>
                  <a:srgbClr val="00008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000" y="9213720"/>
            <a:ext cx="6336000" cy="10966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850" b="1" i="0">
                <a:solidFill>
                  <a:srgbClr val="343C3D"/>
                </a:solidFill>
                <a:latin typeface="Arial"/>
              </a:rPr>
              <a:t>Empfänger über neuen Link informieren</a:t>
            </a:r>
          </a:p>
          <a:p>
            <a:pPr>
              <a:spcBef>
                <a:spcPts val="100"/>
              </a:spcBef>
            </a:pPr>
            <a:r>
              <a:rPr sz="780" b="0" i="0">
                <a:solidFill>
                  <a:srgbClr val="343C3D"/>
                </a:solidFill>
                <a:latin typeface="Arial"/>
              </a:rPr>
              <a:t>Alte Links funktionieren nicht mehr. Neue Einladung versenden oder Link direkt mitteilen. Für SharePoint-Bibliotheken das IT-Team kontaktieren.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6000" y="10414800"/>
            <a:ext cx="6768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6000" y="10432800"/>
            <a:ext cx="6768000" cy="2160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ctr"/>
            <a:r>
              <a:rPr sz="750" b="0" i="0">
                <a:solidFill>
                  <a:srgbClr val="8C9BA5"/>
                </a:solidFill>
                <a:latin typeface="Arial"/>
              </a:rPr>
              <a:t>Bei Fragen wende dich an das IT-Team  ·  Internes Dokument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