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6000" y="198000"/>
            <a:ext cx="6768000" cy="68400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999" y="262800"/>
            <a:ext cx="55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FFFFF"/>
                </a:solidFill>
              </a:rPr>
              <a:t>UPN-Wechsel — Kurzanleitung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50">
                <a:solidFill>
                  <a:srgbClr val="BDD6F5"/>
                </a:solidFill>
              </a:rPr>
              <a:t>Was nach der Änderung deiner geschäftlichen E-Mail-Adresse zu tun 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12000" y="414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050">
                <a:solidFill>
                  <a:srgbClr val="BDD6F5"/>
                </a:solidFill>
              </a:rPr>
              <a:t>Microsoft 365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882000"/>
            <a:ext cx="6768000" cy="25200"/>
          </a:xfrm>
          <a:prstGeom prst="rect">
            <a:avLst/>
          </a:prstGeom>
          <a:solidFill>
            <a:srgbClr val="C4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6000" y="972000"/>
            <a:ext cx="6768000" cy="288000"/>
          </a:xfrm>
          <a:prstGeom prst="rect">
            <a:avLst/>
          </a:prstGeom>
          <a:solidFill>
            <a:srgbClr val="F4F6F9"/>
          </a:solidFill>
          <a:ln w="6350">
            <a:solidFill>
              <a:srgbClr val="C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999" y="1015200"/>
            <a:ext cx="651600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sz="850">
                <a:solidFill>
                  <a:srgbClr val="2D2D2D"/>
                </a:solidFill>
              </a:rPr>
              <a:t>Dein </a:t>
            </a:r>
            <a:r>
              <a:rPr b="1" i="0" sz="850">
                <a:solidFill>
                  <a:srgbClr val="2D2D2D"/>
                </a:solidFill>
              </a:rPr>
              <a:t>User Principal Name (UPN)</a:t>
            </a:r>
            <a:r>
              <a:rPr b="0" i="0" sz="850">
                <a:solidFill>
                  <a:srgbClr val="2D2D2D"/>
                </a:solidFill>
              </a:rPr>
              <a:t> — deine geschäftliche E-Mail-Adresse — wurde geändert. Einige Microsoft-365-Apps müssen manuell neu verknüpft werden. Folge den Schritten — es dauert nur wenige Minuten.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360800"/>
            <a:ext cx="6768000" cy="208800"/>
          </a:xfrm>
          <a:prstGeom prst="rect">
            <a:avLst/>
          </a:prstGeom>
          <a:solidFill>
            <a:srgbClr val="1B6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999" y="1396800"/>
            <a:ext cx="6642001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050">
                <a:solidFill>
                  <a:srgbClr val="FFFFFF"/>
                </a:solidFill>
              </a:rPr>
              <a:t>1 — Microsoft OneNote — Notizbücher neu verknüpfen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1569600"/>
            <a:ext cx="6768000" cy="4595580"/>
          </a:xfrm>
          <a:prstGeom prst="rect">
            <a:avLst/>
          </a:prstGeom>
          <a:solidFill>
            <a:srgbClr val="EAF2FD"/>
          </a:solidFill>
          <a:ln w="6350">
            <a:solidFill>
              <a:srgbClr val="C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9200" y="1666800"/>
            <a:ext cx="2577600" cy="2706573"/>
          </a:xfrm>
          <a:prstGeom prst="rect">
            <a:avLst/>
          </a:prstGeom>
          <a:solidFill>
            <a:srgbClr val="FFFFFF"/>
          </a:solidFill>
          <a:ln w="11430">
            <a:solidFill>
              <a:srgbClr val="C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f765434-IMG_4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000" y="1731600"/>
            <a:ext cx="2448000" cy="24905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82000" y="4250973"/>
            <a:ext cx="25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750">
                <a:solidFill>
                  <a:srgbClr val="555555"/>
                </a:solidFill>
              </a:rPr>
              <a:t>Rechtsklick → Notizbuch schließen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999" y="1656000"/>
            <a:ext cx="251999" cy="854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300">
                <a:solidFill>
                  <a:srgbClr val="C45C00"/>
                </a:solidFill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998" y="1641600"/>
            <a:ext cx="3456001" cy="89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2D2D2D"/>
                </a:solidFill>
              </a:rPr>
              <a:t>Vor dem Schließen: Sync-Fehler prüfen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C45C00"/>
                </a:solidFill>
              </a:rPr>
              <a:t>Sicherstellen, dass keine Sync-Fehler vorhanden sind. Falls ja: betroffene Notizbücher zuerst manuell aus dem lokalen Ordner sichern.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999" y="2546316"/>
            <a:ext cx="251999" cy="854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300">
                <a:solidFill>
                  <a:srgbClr val="1B6EC2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998" y="2531916"/>
            <a:ext cx="3456001" cy="89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2D2D2D"/>
                </a:solidFill>
              </a:rPr>
              <a:t>Alle Notizbücher schließen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2D2D2D"/>
                </a:solidFill>
              </a:rPr>
              <a:t>Rechtsklick auf jedes Notizbuch im linken Bereich → Notizbuch schließen (Close This Notebook). Für alle wiederholen, dann App beenden.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999" y="3436632"/>
            <a:ext cx="251999" cy="854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300">
                <a:solidFill>
                  <a:srgbClr val="1B6EC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998" y="3422232"/>
            <a:ext cx="3456001" cy="89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2D2D2D"/>
                </a:solidFill>
              </a:rPr>
              <a:t>Bei OneDrive Web mit neuer Adresse anmelden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2D2D2D"/>
                </a:solidFill>
              </a:rPr>
              <a:t>Browser öffnen → onedrive.com aufrufen → mit der neuen geschäftlichen E-Mail-Adresse (neuem UPN) anmelden.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99" y="4326948"/>
            <a:ext cx="251999" cy="854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300">
                <a:solidFill>
                  <a:srgbClr val="1B6EC2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998" y="4312548"/>
            <a:ext cx="3456001" cy="89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2D2D2D"/>
                </a:solidFill>
              </a:rPr>
              <a:t>Notizbuch direkt aus OneDrive Web öffnen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2D2D2D"/>
                </a:solidFill>
              </a:rPr>
              <a:t>Zum Ordner des Notizbuchs navigieren und darauf klicken: öffnet sich in OneNote für das Web. (Erzwingt die Neuverknüpfung mit dem neuen UPN.)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999" y="5217264"/>
            <a:ext cx="251999" cy="854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300">
                <a:solidFill>
                  <a:srgbClr val="1B6EC2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998" y="5202864"/>
            <a:ext cx="3456001" cy="890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2D2D2D"/>
                </a:solidFill>
              </a:rPr>
              <a:t>In der Desktop-App weiterarbeiten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2D2D2D"/>
                </a:solidFill>
              </a:rPr>
              <a:t>In OneNote für das Web oben rechts auf «In OneNote öffnen» klicken. Das Notizbuch ist nun korrekt mit dem neuen Konto verknüpft.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000" y="6265980"/>
            <a:ext cx="6768000" cy="208800"/>
          </a:xfrm>
          <a:prstGeom prst="rect">
            <a:avLst/>
          </a:prstGeom>
          <a:solidFill>
            <a:srgbClr val="1B6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999" y="6301980"/>
            <a:ext cx="6642001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1050">
                <a:solidFill>
                  <a:srgbClr val="FFFFFF"/>
                </a:solidFill>
              </a:rPr>
              <a:t>2 — OneDrive — Freigaben neu erstellen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000" y="6474780"/>
            <a:ext cx="6768000" cy="3760020"/>
          </a:xfrm>
          <a:prstGeom prst="rect">
            <a:avLst/>
          </a:prstGeom>
          <a:solidFill>
            <a:srgbClr val="EAF2FD"/>
          </a:solidFill>
          <a:ln w="6350">
            <a:solidFill>
              <a:srgbClr val="C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999" y="6575580"/>
            <a:ext cx="6516002" cy="306000"/>
          </a:xfrm>
          <a:prstGeom prst="rect">
            <a:avLst/>
          </a:prstGeom>
          <a:solidFill>
            <a:srgbClr val="FFF4EC"/>
          </a:solidFill>
          <a:ln w="11430">
            <a:solidFill>
              <a:srgbClr val="C4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3999" y="6604380"/>
            <a:ext cx="6372002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C45C00"/>
                </a:solidFill>
              </a:rPr>
              <a:t>⚠  </a:t>
            </a:r>
            <a:r>
              <a:rPr b="0" i="0" sz="850">
                <a:solidFill>
                  <a:srgbClr val="5C2800"/>
                </a:solidFill>
              </a:rPr>
              <a:t>Alle Freigaben mit dem alten UPN werden </a:t>
            </a:r>
            <a:r>
              <a:rPr b="1" i="0" sz="850">
                <a:solidFill>
                  <a:srgbClr val="5C2800"/>
                </a:solidFill>
              </a:rPr>
              <a:t>automatisch ungültig.</a:t>
            </a:r>
            <a:r>
              <a:rPr b="0" i="0" sz="850">
                <a:solidFill>
                  <a:srgbClr val="5C2800"/>
                </a:solidFill>
              </a:rPr>
              <a:t> Empfänger verlieren den Zugriff — jedes Element muss manuell neu geteilt werden.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999" y="6946380"/>
            <a:ext cx="251999" cy="10313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300">
                <a:solidFill>
                  <a:srgbClr val="1B6EC2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998" y="6931980"/>
            <a:ext cx="6336001" cy="106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2D2D2D"/>
                </a:solidFill>
              </a:rPr>
              <a:t>Freigegebene Elemente finden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2D2D2D"/>
                </a:solidFill>
              </a:rPr>
              <a:t>Bei onedrive.com mit neuer Adresse anmelden → im linken Bereich auf «Geteilt» klicken → alle früheren Freigaben werden angezeigt.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999" y="8013720"/>
            <a:ext cx="251999" cy="10313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300">
                <a:solidFill>
                  <a:srgbClr val="1B6EC2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998" y="7999320"/>
            <a:ext cx="6336001" cy="106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2D2D2D"/>
                </a:solidFill>
              </a:rPr>
              <a:t>Jede Datei / jeden Ordner neu freigeben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2D2D2D"/>
                </a:solidFill>
              </a:rPr>
              <a:t>Rechtsklick → Freigeben → Empfänger eingeben → Berechtigung wählen (Anzeigen / Bearbeiten) → Senden.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99" y="9081060"/>
            <a:ext cx="251999" cy="10313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300">
                <a:solidFill>
                  <a:srgbClr val="1B6EC2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998" y="9066660"/>
            <a:ext cx="6336001" cy="106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900">
                <a:solidFill>
                  <a:srgbClr val="2D2D2D"/>
                </a:solidFill>
              </a:rPr>
              <a:t>Empfänger über neuen Link informieren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2D2D2D"/>
                </a:solidFill>
              </a:rPr>
              <a:t>Alte Links funktionieren nicht mehr. Neue Einladung versenden oder Link direkt mitteilen. Für SharePoint-Bibliotheken das IT-Team kontaktieren.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000" y="10299600"/>
            <a:ext cx="6768000" cy="14400"/>
          </a:xfrm>
          <a:prstGeom prst="rect">
            <a:avLst/>
          </a:prstGeom>
          <a:solidFill>
            <a:srgbClr val="C0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6000" y="10335600"/>
            <a:ext cx="67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0" i="0" sz="750">
                <a:solidFill>
                  <a:srgbClr val="555555"/>
                </a:solidFill>
              </a:rPr>
              <a:t>Bei Fragen wende dich an das IT-Team  ·  Internes Dokument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